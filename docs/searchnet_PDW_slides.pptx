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FULL">
    <p:bg>
      <p:bgPr>
        <a:solidFill>
          <a:srgbClr val="0F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searchnet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Strategic Search on Fitness Landscapes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1828800" cy="457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Downing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Development Workshop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Welcome &amp; 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NK models assume a single agent on a fixed landscape.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firms search together, and the landscape changes as they search.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651760"/>
            <a:ext cx="256032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Agent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NK has one searcher on one landscape. No rivals.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6517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651760"/>
            <a:ext cx="256032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Landscape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is exogenous. Others' choices don't change your payoffs.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6517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651760"/>
            <a:ext cx="256032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Network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 connecting who does what, or who competes with whom.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Welcome &amp; 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searchnet endogenizes the fitness landscape by reformulating NK as a bipartite SAOM.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18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NK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N bits, K interactions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fitness function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local search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strategic interaction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377440"/>
            <a:ext cx="3840480" cy="210312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SaoMNK (searchnet)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880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agents, N activities, {K} networks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fitness landscape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rationality (QRE)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strategic interdependence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2926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Learn Today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Welcome &amp; 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143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Simulation World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actors, activities, and the bipartite network that connects them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103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Experiments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468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simulations, apply shocks, and sweep parameters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063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{K} Dashboard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429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four coupled network trajectories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023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Your Research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389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own RQs to searchnet constructs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One-Slide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463040"/>
            <a:ext cx="1371600" cy="914400"/>
          </a:xfrm>
          <a:prstGeom prst="rect">
            <a:avLst/>
          </a:prstGeom>
          <a:solidFill>
            <a:srgbClr val="1A202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463040"/>
            <a:ext cx="1371600" cy="54864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landscape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37360" y="14630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⊂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286000" y="1463040"/>
            <a:ext cx="2011680" cy="914400"/>
          </a:xfrm>
          <a:prstGeom prst="rect">
            <a:avLst/>
          </a:prstGeom>
          <a:solidFill>
            <a:srgbClr val="1A202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0" y="1463040"/>
            <a:ext cx="201168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SaoMNK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agents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{K} networks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0" y="14630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937760" y="1463040"/>
            <a:ext cx="2011680" cy="914400"/>
          </a:xfrm>
          <a:prstGeom prst="rect">
            <a:avLst/>
          </a:prstGeom>
          <a:solidFill>
            <a:srgbClr val="1A202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463040"/>
            <a:ext cx="2011680" cy="54864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Cond. Logit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McFadden choice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bipartite DGP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0880" y="14630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589520" y="1463040"/>
            <a:ext cx="2011680" cy="914400"/>
          </a:xfrm>
          <a:prstGeom prst="rect">
            <a:avLst/>
          </a:prstGeom>
          <a:solidFill>
            <a:srgbClr val="1A202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0" y="1463040"/>
            <a:ext cx="2011680" cy="5486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8096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rational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2788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choosing activities on a shared landscape, with bounded rationality, produce a well-defined equilibrium we can simulate and estimate.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theoretical backbone of searchnet.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Simulation World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miniature economy from scratch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Miniature Economy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The Simulation World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building a factory: you choose the machines (N), the workers (M), and the wiring between them ({K}).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256032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Workers (M)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firms, people, teams.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choose what to 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19456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194560"/>
            <a:ext cx="2560320" cy="54864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Machines (N)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2788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technologies, markets, strategies.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get chosen.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19456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194560"/>
            <a:ext cx="2560320" cy="54864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Wiring ({K})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networks.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everything connects.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42519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searchnet simulation is an artificial economy: agents choose activities, and the four hidden networks emerge from their collective choices.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Actors (M)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The Simulation World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searching?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in an industry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in a market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in a field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in an organization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005840"/>
            <a:ext cx="2926080" cy="228600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of 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377440" cy="20116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5087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783080"/>
            <a:ext cx="2377440" cy="20116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783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2057400"/>
            <a:ext cx="2377440" cy="20116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 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2331720"/>
            <a:ext cx="2377440" cy="201168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331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 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2606040"/>
            <a:ext cx="2377440" cy="201168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606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 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2880360"/>
            <a:ext cx="2377440" cy="201168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880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 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number of actors (rows of the bipartite matrix B)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39776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are the row-players. Each actor has a portfolio of chosen activities.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Components (N)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The Simulation World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be chosen?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an airline can fly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a firm can adopt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topics to pursue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to enter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005840"/>
            <a:ext cx="2926080" cy="228600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of 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1463040"/>
            <a:ext cx="237744" cy="16459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1" name="Shape 9"/>
          <p:cNvSpPr/>
          <p:nvPr/>
        </p:nvSpPr>
        <p:spPr>
          <a:xfrm>
            <a:off x="6281928" y="1463040"/>
            <a:ext cx="237744" cy="16459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74536" y="1463040"/>
            <a:ext cx="237744" cy="16459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867144" y="1463040"/>
            <a:ext cx="237744" cy="16459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59752" y="1463040"/>
            <a:ext cx="237744" cy="16459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5" name="Shape 13"/>
          <p:cNvSpPr/>
          <p:nvPr/>
        </p:nvSpPr>
        <p:spPr>
          <a:xfrm>
            <a:off x="7452360" y="1463040"/>
            <a:ext cx="237744" cy="16459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44968" y="1463040"/>
            <a:ext cx="237744" cy="16459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7" name="Shape 15"/>
          <p:cNvSpPr/>
          <p:nvPr/>
        </p:nvSpPr>
        <p:spPr>
          <a:xfrm>
            <a:off x="8037576" y="1463040"/>
            <a:ext cx="237744" cy="16459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3154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N1  N2  N3  N4  N5  N6  N7  N8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number of components (columns of the bipartite matrix B)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9776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are the column-resources. Each is either adopted (1) or not (0) by each actor.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Bipartite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The Simulation World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∈ {0,1}</a:t>
            </a:r>
            <a:pPr indent="0" marL="0">
              <a:buNone/>
            </a:pPr>
            <a:r>
              <a:rPr lang="en-US" sz="1000" b="1" baseline="300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M×N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74520" y="12801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77440" y="12801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80360" y="12801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12801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86200" y="12801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0" y="12801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12801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15544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18745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194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25146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2834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71600" y="155448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155448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77440" y="155448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80360" y="155448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155448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86200" y="155448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155448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155448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371600" y="187452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71600" y="1874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187452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74520" y="1874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377440" y="187452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0" y="1874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880360" y="187452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80360" y="1874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83280" y="187452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1874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886200" y="187452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86200" y="1874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389120" y="187452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0" y="1874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92040" y="187452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1874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371600" y="219456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0" y="2194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874520" y="219456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74520" y="2194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377440" y="219456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77440" y="2194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80360" y="219456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80360" y="2194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383280" y="219456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83280" y="2194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886200" y="219456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86200" y="2194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389120" y="219456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89120" y="2194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892040" y="219456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92040" y="2194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371600" y="251460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371600" y="2514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874520" y="251460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74520" y="2514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377440" y="251460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77440" y="2514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880360" y="251460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880360" y="2514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383280" y="251460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83280" y="2514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886200" y="251460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886200" y="2514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389120" y="251460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89120" y="2514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892040" y="251460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92040" y="2514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1371600" y="283464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371600" y="2834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1874520" y="283464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874520" y="2834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2377440" y="283464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377440" y="2834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880360" y="283464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880360" y="2834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3383280" y="283464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383280" y="2834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3886200" y="283464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886200" y="2834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4389120" y="2834640"/>
            <a:ext cx="502920" cy="320040"/>
          </a:xfrm>
          <a:prstGeom prst="rect">
            <a:avLst/>
          </a:prstGeom>
          <a:solidFill>
            <a:srgbClr val="2B6CB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89120" y="2834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4892040" y="2834640"/>
            <a:ext cx="50292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892040" y="2834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 rot="16200000">
            <a:off x="27432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(M)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22860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(N)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594360" y="39776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B is the state of the world. 1 = actor i does activity j. Everything else derives from B.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Simulation World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The Simulation World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560320"/>
          </a:xfrm>
          <a:prstGeom prst="rect">
            <a:avLst/>
          </a:prstGeom>
          <a:solidFill>
            <a:srgbClr val="1A202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9728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library(searchnet)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the environment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&lt;- saomnk_env(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       = 6,      # 6 actors (firms)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      = 10,     # 10 components (activities)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density = 0.3,    # 30% of cells start as 1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seed    = 42      # reproducible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37947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code creates an entire economy: 6 firms, 10 activities, and a random initial assignment.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Change M, N, or density and see what happens to the initial matrix.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Hidden Networks: {K}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The Simulation World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bipartite matrix B generates four coupled network layers.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91640"/>
            <a:ext cx="548640" cy="3200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91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057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Actor→Component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 much is each firm doing?)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1031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Projection: 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691640"/>
            <a:ext cx="548640" cy="3200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691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K_CA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7784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Popularity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057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Component→Actor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 crowded is each activity?)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21031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Projection: Bᵀ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246120"/>
            <a:ext cx="54864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3611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Actor→Actor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(Who overlaps with whom?)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Projection: BBᵀ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246120"/>
            <a:ext cx="548640" cy="32004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K_CC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Epistasis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611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Component→Component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(Which activities go together?)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5A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Projection: BᵀB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K_AC: Scope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The Simulation World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3200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is each firm doing?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572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K_AC(i) = ∑_j B(i,j)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row-sum of B: count of activities adopted by actor 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1554480"/>
            <a:ext cx="3383280" cy="164592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per Actor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1965960"/>
            <a:ext cx="1042416" cy="1371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19659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669280" y="2148840"/>
            <a:ext cx="1737360" cy="1371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21488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669280" y="2331720"/>
            <a:ext cx="694944" cy="1371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23317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669280" y="2514600"/>
            <a:ext cx="2432304" cy="1371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251460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669280" y="2697480"/>
            <a:ext cx="1389888" cy="1371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0" y="269748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669280" y="2880360"/>
            <a:ext cx="347472" cy="1371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28803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4290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measures how diversified each actor is. High scope = broad portfolio, low scope = specialist.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airline example: scope = number of routes an airline flies.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K_CA: Popularity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The Simulation World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3200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K_CA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crowded is each activity?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572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K_CA(j) = ∑_i B(i,j)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column-sum of B: count of actors adopting activity j.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1554480"/>
            <a:ext cx="3383280" cy="164592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per Activity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2011680"/>
            <a:ext cx="585216" cy="100584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0" y="2148840"/>
            <a:ext cx="1170432" cy="100584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0" y="2286000"/>
            <a:ext cx="292608" cy="100584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0" y="2423160"/>
            <a:ext cx="877824" cy="100584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0" y="2560320"/>
            <a:ext cx="1463040" cy="100584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0" y="2697480"/>
            <a:ext cx="585216" cy="100584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0" y="2834640"/>
            <a:ext cx="877824" cy="100584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0" y="2971800"/>
            <a:ext cx="292608" cy="100584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34290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measures competition. High popularity = red ocean; low popularity = blue ocean.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K_AA: Sociality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The Simulation World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overlaps with whom?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Projection: BBᵀ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K_AA(i,j) = number of shared activities between actors i and j.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= scope. Off-diagonal = rivalry overlap.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554480"/>
            <a:ext cx="3657600" cy="182880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1828800"/>
            <a:ext cx="5029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4" name="Shape 12"/>
          <p:cNvSpPr/>
          <p:nvPr/>
        </p:nvSpPr>
        <p:spPr>
          <a:xfrm>
            <a:off x="6035040" y="1828800"/>
            <a:ext cx="5029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1828800"/>
            <a:ext cx="5029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0" y="1828800"/>
            <a:ext cx="5029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0" y="2148840"/>
            <a:ext cx="5029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0" y="2148840"/>
            <a:ext cx="5029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2148840"/>
            <a:ext cx="5029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2148840"/>
            <a:ext cx="5029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0" y="2468880"/>
            <a:ext cx="5029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0" y="2468880"/>
            <a:ext cx="5029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2468880"/>
            <a:ext cx="5029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0" y="2468880"/>
            <a:ext cx="5029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0" y="2788920"/>
            <a:ext cx="5029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0" y="2788920"/>
            <a:ext cx="5029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0" y="2788920"/>
            <a:ext cx="5029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0" y="2788920"/>
            <a:ext cx="50292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32004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Actor-by-Actor overlap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4360" y="36118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Sociality captures competitive overlap. Two airlines flying the same routes have high K_AA.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K_CC: Epistasis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The Simulation World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32004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K_CC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activities go together?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5A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Projection: BᵀB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K_CC(j,k) = number of actors doing both activity j and k.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= popularity. Off-diagonal = complementarity.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554480"/>
            <a:ext cx="3657600" cy="182880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1783080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14" name="Shape 12"/>
          <p:cNvSpPr/>
          <p:nvPr/>
        </p:nvSpPr>
        <p:spPr>
          <a:xfrm>
            <a:off x="5989320" y="1783080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1783080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16" name="Shape 14"/>
          <p:cNvSpPr/>
          <p:nvPr/>
        </p:nvSpPr>
        <p:spPr>
          <a:xfrm>
            <a:off x="6995160" y="1783080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0" y="1783080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2075688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19" name="Shape 17"/>
          <p:cNvSpPr/>
          <p:nvPr/>
        </p:nvSpPr>
        <p:spPr>
          <a:xfrm>
            <a:off x="5989320" y="2075688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2075688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1" name="Shape 19"/>
          <p:cNvSpPr/>
          <p:nvPr/>
        </p:nvSpPr>
        <p:spPr>
          <a:xfrm>
            <a:off x="6995160" y="2075688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0" y="2075688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0" y="2368296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4" name="Shape 22"/>
          <p:cNvSpPr/>
          <p:nvPr/>
        </p:nvSpPr>
        <p:spPr>
          <a:xfrm>
            <a:off x="5989320" y="2368296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2368296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2368296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7" name="Shape 25"/>
          <p:cNvSpPr/>
          <p:nvPr/>
        </p:nvSpPr>
        <p:spPr>
          <a:xfrm>
            <a:off x="7498080" y="2368296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0" y="2660904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9" name="Shape 27"/>
          <p:cNvSpPr/>
          <p:nvPr/>
        </p:nvSpPr>
        <p:spPr>
          <a:xfrm>
            <a:off x="5989320" y="2660904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30" name="Shape 28"/>
          <p:cNvSpPr/>
          <p:nvPr/>
        </p:nvSpPr>
        <p:spPr>
          <a:xfrm>
            <a:off x="6492240" y="2660904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31" name="Shape 29"/>
          <p:cNvSpPr/>
          <p:nvPr/>
        </p:nvSpPr>
        <p:spPr>
          <a:xfrm>
            <a:off x="6995160" y="2660904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0" y="2660904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0" y="2953512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34" name="Shape 32"/>
          <p:cNvSpPr/>
          <p:nvPr/>
        </p:nvSpPr>
        <p:spPr>
          <a:xfrm>
            <a:off x="5989320" y="2953512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35" name="Shape 33"/>
          <p:cNvSpPr/>
          <p:nvPr/>
        </p:nvSpPr>
        <p:spPr>
          <a:xfrm>
            <a:off x="6492240" y="2953512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36" name="Shape 34"/>
          <p:cNvSpPr/>
          <p:nvPr/>
        </p:nvSpPr>
        <p:spPr>
          <a:xfrm>
            <a:off x="6995160" y="2953512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37" name="Shape 35"/>
          <p:cNvSpPr/>
          <p:nvPr/>
        </p:nvSpPr>
        <p:spPr>
          <a:xfrm>
            <a:off x="7498080" y="2953512"/>
            <a:ext cx="457200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32004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Activity-by-Activity co-adoption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94360" y="36118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Epistasis is the traditional NK 'K' -- but now it emerges from collective behavior instead of being hard-coded.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Coupling: Change One, Change All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The Simulation World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actor i adds activity j, all four K networks update simultaneously.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06240" y="1371600"/>
            <a:ext cx="73152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1371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2560320"/>
            <a:ext cx="731520" cy="3657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K_CA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3749040"/>
            <a:ext cx="731520" cy="36576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3749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2560320"/>
            <a:ext cx="731520" cy="36576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K_CC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51960" y="2423160"/>
            <a:ext cx="640080" cy="6400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41605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we need all four K's. They aren't independent--they are four views of the same bipartite state B.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{K} Table: Formal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The Simulation World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1463040"/>
                <a:gridCol w="1097280"/>
                <a:gridCol w="3566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K_AC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rowSums(B)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× 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 diversification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69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K_CA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colSums(B)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× 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crowding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K_AA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 %*% t(B)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× 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 overlap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05A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K_CC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Epistasis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t(B) %*% 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× 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complementarity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342900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K's come from the same matrix B. Change B and you change all four simultaneously. This is the coupling that makes SaoMNK different from standard NK.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Time 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ministep clock, choice functions, and bounded rationality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Ministep Clock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How Time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actor at a time, random order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7680960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91640" y="182880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0" y="2331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51760" y="1828800"/>
            <a:ext cx="457200" cy="457200"/>
          </a:xfrm>
          <a:prstGeom prst="ellipse">
            <a:avLst/>
          </a:prstGeom>
          <a:solidFill>
            <a:srgbClr val="805AD5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2331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11880" y="1828800"/>
            <a:ext cx="457200" cy="45720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66160" y="2331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0" y="1828800"/>
            <a:ext cx="457200" cy="45720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26280" y="2331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532120" y="1828800"/>
            <a:ext cx="457200" cy="45720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2331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t=6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92240" y="182880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46520" y="2331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t=7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52360" y="1828800"/>
            <a:ext cx="457200" cy="45720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29" name="Text 27"/>
          <p:cNvSpPr/>
          <p:nvPr/>
        </p:nvSpPr>
        <p:spPr>
          <a:xfrm>
            <a:off x="7452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06640" y="2331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t=8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2834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ministep, exactly one actor gets a chance to move.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actor can ADD an activity, DROP an activity, or PASS.
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choice, the clock advances and another actor is drawn.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not simultaneous. Actors take turns, like a board game. This is the SAOM (Stochastic Actor-Oriented Model) clock.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Rate Function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How Time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acts next?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λ_i = rate parameter for actor 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P(actor i acts next) = λ_i / ∑_k λ_k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 between ministeps ~ Exponential(∑ λ_i)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9718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rate = more opportunities to act. Think of it as 'clock speed' for each player.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equal rates (λ_i = λ for all i). Can be made heterogeneous.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Choice Set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How Time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it's your turn, what can you do?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1783080"/>
            <a:ext cx="640080" cy="6400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new activity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B(i,j): 0 →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64592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783080"/>
            <a:ext cx="640080" cy="64008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6616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2880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an activity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B(i,j): 1 → 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69480" y="1783080"/>
            <a:ext cx="640080" cy="64008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9224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18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880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unchanged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862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ministep is a binary choice about one cell of B. Flip it on, flip it off, or leave it alone.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Choice Function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How Time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McFadden Conditional Logit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P(flip j | actor i) = exp(β · ΔU_ij) / ∑_k exp(β · ΔU_ik)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ΔU_ij = change in utility if actor i flips cell j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bounded rationality parameter (inverse temperature)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runs over all possible flips + the pass option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1546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actor picks the option with the highest utility gain, but with noise. Better options are more likely, not guaranteed.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discrete choice model from industrial organization and transportation economics.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Choice Probabilities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How Time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m1 currently does {n2, n5, n7}. It's her turn. β = 2.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097280"/>
                <a:gridCol w="164592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exp(β·ΔU)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P(choose)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n1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+n1 to portfolio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n3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+n3 to portfolio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n2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-n2 from portfolio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n5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-n5 from portfolio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n7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-n7 from portfolio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n4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+n4 to portfolio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11.02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 ← best!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39776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n4 has the highest utility gain (+1.2), so it gets 27% probability. But adding n1 also has a 31% chance. Bounded rationality means the best option usually wins, but not always.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Utility Function: 10 Components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How Time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an activity attractive (or costly)?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011680"/>
                <a:gridCol w="347472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English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outdegree (density)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cost of doing anything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outdegree² (scope cost)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Diminishing returns to breadth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indegree popularity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 of choosing popular activities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indegree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Intrinsic attractiveness of each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reciprocity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adoption benefit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K_AA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transitive triplets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what your rival's rival does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K_AA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nbrDist2 (indirect ties)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Two-step network effects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K_AA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egoX (actor covariate)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Actor-specific strategy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altX (alter covariate)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Activity-specific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sameX (homophily)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Birds of a feather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K_AA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41605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theta parameter is a dial you can turn. Together they define 'what does it mean to search well?' in your simulated economy.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Utility Decomposition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How Time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m1 considers adding activity n4. What happens to her utility?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5448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ΔU(m1, +n4) =
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θ1 × (+1)          # scope increases by 1
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θ2 × (+7)          # scope²: 3²→4² = +7
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θ3 × (3)           # n4 has 3 adopters (popularity)
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θ5 × (1)           # m2 also does n4 (reciprocity)
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θ6 × (2)           # 2 transitive triplets closed
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-2.0 + (-1.4) + 0.9 + 0.5 + 1.6  =  -0.4 + 3.0 = +1.2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39776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n4 is costly (scope goes up) but the synergies and network effects more than compensate. Net utility change = +1.2.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Bounded Rationality Dial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How Time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 controls how 'smart' the actors 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2606040" cy="54864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= 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noise. Actors choose uniformly at random. No optimization.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554480"/>
            <a:ext cx="260604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≈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2057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Bounded Rational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QRE regime. Better options more likely, but mistakes happen.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554480"/>
            <a:ext cx="2606040" cy="54864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→ ∞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057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(= NK)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pick best option. Recovers classic NK local search.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94760"/>
            <a:ext cx="7680960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42519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 is the special case where beta = infinity. SaoMNK nests NK by letting beta be finite.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Simulations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code to insight in three steps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Steps to a Simulation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Running Simulations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371600"/>
            <a:ext cx="640080" cy="6400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world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(M, N, density, epistasis)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saomnk_env()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383280" y="118872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371600"/>
            <a:ext cx="640080" cy="64008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rules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(theta parameters, beta)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saomnk_model()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309360" y="118872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0" y="1371600"/>
            <a:ext cx="640080" cy="6400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922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evolve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(ministeps, trajectories)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saomnk_run()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40690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searchnet simulation follows this pattern: create the world, define the rules, press play.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Walkthrough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Running Simulations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1A202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97280"/>
            <a:ext cx="7955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Environment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&lt;- saomnk_env(M = 6, N = 10, density = 0.3,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seed = 42)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Model (set the theta parameters)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 &lt;- saomnk_model(env,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theta_density  = -2.0,   # cost of breadth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theta_scope2   = -0.2,   # quadratic scope cost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theta_popular  =  0.3,   # popularity benefit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theta_recip    =  0.5,   # reciprocity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theta_trans    =  0.8,   # transitivity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beta           =  2.0)   # bounded rationality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Run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saomnk_run(mod, n_steps = 500)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theta controls one term in the utility function. beta controls noise.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{K}-4 Panel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Running Simulations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diagnostic: four time-series, one for each K layer.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73152" cy="11887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K_AC (Scope)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firms expanding or contracting?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423160"/>
            <a:ext cx="3200400" cy="0"/>
          </a:xfrm>
          <a:prstGeom prst="line">
            <a:avLst/>
          </a:prstGeom>
          <a:noFill/>
          <a:ln w="19050">
            <a:solidFill>
              <a:srgbClr val="2B6CB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754880" y="15087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08760"/>
            <a:ext cx="73152" cy="11887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K_CA (Popularity)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competition concentrating?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2423160"/>
            <a:ext cx="3200400" cy="0"/>
          </a:xfrm>
          <a:prstGeom prst="line">
            <a:avLst/>
          </a:prstGeom>
          <a:noFill/>
          <a:ln w="19050">
            <a:solidFill>
              <a:srgbClr val="D69E2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73152" cy="11887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K_AA (Sociality)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firms converging or diverging?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840480"/>
            <a:ext cx="3200400" cy="0"/>
          </a:xfrm>
          <a:prstGeom prst="line">
            <a:avLst/>
          </a:prstGeom>
          <a:noFill/>
          <a:ln w="19050">
            <a:solidFill>
              <a:srgbClr val="38A16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754880" y="29260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926080"/>
            <a:ext cx="73152" cy="118872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5A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K_CC (Epistasis)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activities coupling or decoupling?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83480" y="3840480"/>
            <a:ext cx="3200400" cy="0"/>
          </a:xfrm>
          <a:prstGeom prst="line">
            <a:avLst/>
          </a:prstGeom>
          <a:noFill/>
          <a:ln w="19050">
            <a:solidFill>
              <a:srgbClr val="805AD5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44348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K-4 panel is your MRI scan of the simulated economy. Watch how the four layers co-evolve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Snapshots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Running Simulations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bipartite network evolve over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01168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0" name="Shape 8"/>
          <p:cNvSpPr/>
          <p:nvPr/>
        </p:nvSpPr>
        <p:spPr>
          <a:xfrm>
            <a:off x="1417320" y="201168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1" name="Shape 9"/>
          <p:cNvSpPr/>
          <p:nvPr/>
        </p:nvSpPr>
        <p:spPr>
          <a:xfrm>
            <a:off x="1737360" y="201168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201168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Shape 11"/>
          <p:cNvSpPr/>
          <p:nvPr/>
        </p:nvSpPr>
        <p:spPr>
          <a:xfrm>
            <a:off x="2377440" y="201168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33172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" y="233172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6" name="Shape 14"/>
          <p:cNvSpPr/>
          <p:nvPr/>
        </p:nvSpPr>
        <p:spPr>
          <a:xfrm>
            <a:off x="1417320" y="233172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233172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2057400" y="233172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Shape 17"/>
          <p:cNvSpPr/>
          <p:nvPr/>
        </p:nvSpPr>
        <p:spPr>
          <a:xfrm>
            <a:off x="2377440" y="233172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265176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265176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2" name="Shape 20"/>
          <p:cNvSpPr/>
          <p:nvPr/>
        </p:nvSpPr>
        <p:spPr>
          <a:xfrm>
            <a:off x="1417320" y="265176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3" name="Shape 21"/>
          <p:cNvSpPr/>
          <p:nvPr/>
        </p:nvSpPr>
        <p:spPr>
          <a:xfrm>
            <a:off x="1737360" y="265176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265176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5" name="Shape 23"/>
          <p:cNvSpPr/>
          <p:nvPr/>
        </p:nvSpPr>
        <p:spPr>
          <a:xfrm>
            <a:off x="2377440" y="265176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297180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" y="297180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8" name="Shape 26"/>
          <p:cNvSpPr/>
          <p:nvPr/>
        </p:nvSpPr>
        <p:spPr>
          <a:xfrm>
            <a:off x="1417320" y="297180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9" name="Shape 27"/>
          <p:cNvSpPr/>
          <p:nvPr/>
        </p:nvSpPr>
        <p:spPr>
          <a:xfrm>
            <a:off x="1737360" y="297180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0" name="Shape 28"/>
          <p:cNvSpPr/>
          <p:nvPr/>
        </p:nvSpPr>
        <p:spPr>
          <a:xfrm>
            <a:off x="2057400" y="297180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1" name="Shape 29"/>
          <p:cNvSpPr/>
          <p:nvPr/>
        </p:nvSpPr>
        <p:spPr>
          <a:xfrm>
            <a:off x="2377440" y="297180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3383280" y="155448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8328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100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703320" y="201168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6" name="Shape 34"/>
          <p:cNvSpPr/>
          <p:nvPr/>
        </p:nvSpPr>
        <p:spPr>
          <a:xfrm>
            <a:off x="4023360" y="201168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7" name="Shape 35"/>
          <p:cNvSpPr/>
          <p:nvPr/>
        </p:nvSpPr>
        <p:spPr>
          <a:xfrm>
            <a:off x="4343400" y="201168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8" name="Shape 36"/>
          <p:cNvSpPr/>
          <p:nvPr/>
        </p:nvSpPr>
        <p:spPr>
          <a:xfrm>
            <a:off x="4663440" y="201168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Shape 37"/>
          <p:cNvSpPr/>
          <p:nvPr/>
        </p:nvSpPr>
        <p:spPr>
          <a:xfrm>
            <a:off x="4983480" y="201168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0" name="Shape 38"/>
          <p:cNvSpPr/>
          <p:nvPr/>
        </p:nvSpPr>
        <p:spPr>
          <a:xfrm>
            <a:off x="5303520" y="201168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1" name="Shape 39"/>
          <p:cNvSpPr/>
          <p:nvPr/>
        </p:nvSpPr>
        <p:spPr>
          <a:xfrm>
            <a:off x="3703320" y="233172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2" name="Shape 40"/>
          <p:cNvSpPr/>
          <p:nvPr/>
        </p:nvSpPr>
        <p:spPr>
          <a:xfrm>
            <a:off x="4023360" y="233172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3" name="Shape 41"/>
          <p:cNvSpPr/>
          <p:nvPr/>
        </p:nvSpPr>
        <p:spPr>
          <a:xfrm>
            <a:off x="4343400" y="233172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4" name="Shape 42"/>
          <p:cNvSpPr/>
          <p:nvPr/>
        </p:nvSpPr>
        <p:spPr>
          <a:xfrm>
            <a:off x="4663440" y="233172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5" name="Shape 43"/>
          <p:cNvSpPr/>
          <p:nvPr/>
        </p:nvSpPr>
        <p:spPr>
          <a:xfrm>
            <a:off x="4983480" y="233172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6" name="Shape 44"/>
          <p:cNvSpPr/>
          <p:nvPr/>
        </p:nvSpPr>
        <p:spPr>
          <a:xfrm>
            <a:off x="5303520" y="233172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7" name="Shape 45"/>
          <p:cNvSpPr/>
          <p:nvPr/>
        </p:nvSpPr>
        <p:spPr>
          <a:xfrm>
            <a:off x="3703320" y="265176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8" name="Shape 46"/>
          <p:cNvSpPr/>
          <p:nvPr/>
        </p:nvSpPr>
        <p:spPr>
          <a:xfrm>
            <a:off x="4023360" y="265176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9" name="Shape 47"/>
          <p:cNvSpPr/>
          <p:nvPr/>
        </p:nvSpPr>
        <p:spPr>
          <a:xfrm>
            <a:off x="4343400" y="265176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0" name="Shape 48"/>
          <p:cNvSpPr/>
          <p:nvPr/>
        </p:nvSpPr>
        <p:spPr>
          <a:xfrm>
            <a:off x="4663440" y="265176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1" name="Shape 49"/>
          <p:cNvSpPr/>
          <p:nvPr/>
        </p:nvSpPr>
        <p:spPr>
          <a:xfrm>
            <a:off x="4983480" y="265176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265176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3" name="Shape 51"/>
          <p:cNvSpPr/>
          <p:nvPr/>
        </p:nvSpPr>
        <p:spPr>
          <a:xfrm>
            <a:off x="3703320" y="297180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4" name="Shape 52"/>
          <p:cNvSpPr/>
          <p:nvPr/>
        </p:nvSpPr>
        <p:spPr>
          <a:xfrm>
            <a:off x="4023360" y="297180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5" name="Shape 53"/>
          <p:cNvSpPr/>
          <p:nvPr/>
        </p:nvSpPr>
        <p:spPr>
          <a:xfrm>
            <a:off x="4343400" y="297180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6" name="Shape 54"/>
          <p:cNvSpPr/>
          <p:nvPr/>
        </p:nvSpPr>
        <p:spPr>
          <a:xfrm>
            <a:off x="4663440" y="297180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7" name="Shape 55"/>
          <p:cNvSpPr/>
          <p:nvPr/>
        </p:nvSpPr>
        <p:spPr>
          <a:xfrm>
            <a:off x="4983480" y="297180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8" name="Shape 56"/>
          <p:cNvSpPr/>
          <p:nvPr/>
        </p:nvSpPr>
        <p:spPr>
          <a:xfrm>
            <a:off x="5303520" y="297180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9" name="Text 57"/>
          <p:cNvSpPr/>
          <p:nvPr/>
        </p:nvSpPr>
        <p:spPr>
          <a:xfrm>
            <a:off x="58521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60" name="Shape 58"/>
          <p:cNvSpPr/>
          <p:nvPr/>
        </p:nvSpPr>
        <p:spPr>
          <a:xfrm>
            <a:off x="6309360" y="155448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30936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500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629400" y="201168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3" name="Shape 61"/>
          <p:cNvSpPr/>
          <p:nvPr/>
        </p:nvSpPr>
        <p:spPr>
          <a:xfrm>
            <a:off x="6949440" y="201168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4" name="Shape 62"/>
          <p:cNvSpPr/>
          <p:nvPr/>
        </p:nvSpPr>
        <p:spPr>
          <a:xfrm>
            <a:off x="7269480" y="201168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5" name="Shape 63"/>
          <p:cNvSpPr/>
          <p:nvPr/>
        </p:nvSpPr>
        <p:spPr>
          <a:xfrm>
            <a:off x="7589520" y="201168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6" name="Shape 64"/>
          <p:cNvSpPr/>
          <p:nvPr/>
        </p:nvSpPr>
        <p:spPr>
          <a:xfrm>
            <a:off x="7909560" y="201168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7" name="Shape 65"/>
          <p:cNvSpPr/>
          <p:nvPr/>
        </p:nvSpPr>
        <p:spPr>
          <a:xfrm>
            <a:off x="8229600" y="201168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8" name="Shape 66"/>
          <p:cNvSpPr/>
          <p:nvPr/>
        </p:nvSpPr>
        <p:spPr>
          <a:xfrm>
            <a:off x="6629400" y="233172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9" name="Shape 67"/>
          <p:cNvSpPr/>
          <p:nvPr/>
        </p:nvSpPr>
        <p:spPr>
          <a:xfrm>
            <a:off x="6949440" y="233172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0" name="Shape 68"/>
          <p:cNvSpPr/>
          <p:nvPr/>
        </p:nvSpPr>
        <p:spPr>
          <a:xfrm>
            <a:off x="7269480" y="233172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71" name="Shape 69"/>
          <p:cNvSpPr/>
          <p:nvPr/>
        </p:nvSpPr>
        <p:spPr>
          <a:xfrm>
            <a:off x="7589520" y="233172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2" name="Shape 70"/>
          <p:cNvSpPr/>
          <p:nvPr/>
        </p:nvSpPr>
        <p:spPr>
          <a:xfrm>
            <a:off x="7909560" y="233172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3" name="Shape 71"/>
          <p:cNvSpPr/>
          <p:nvPr/>
        </p:nvSpPr>
        <p:spPr>
          <a:xfrm>
            <a:off x="8229600" y="233172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74" name="Shape 72"/>
          <p:cNvSpPr/>
          <p:nvPr/>
        </p:nvSpPr>
        <p:spPr>
          <a:xfrm>
            <a:off x="6629400" y="265176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5" name="Shape 73"/>
          <p:cNvSpPr/>
          <p:nvPr/>
        </p:nvSpPr>
        <p:spPr>
          <a:xfrm>
            <a:off x="6949440" y="265176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76" name="Shape 74"/>
          <p:cNvSpPr/>
          <p:nvPr/>
        </p:nvSpPr>
        <p:spPr>
          <a:xfrm>
            <a:off x="7269480" y="265176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7" name="Shape 75"/>
          <p:cNvSpPr/>
          <p:nvPr/>
        </p:nvSpPr>
        <p:spPr>
          <a:xfrm>
            <a:off x="7589520" y="265176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8" name="Shape 76"/>
          <p:cNvSpPr/>
          <p:nvPr/>
        </p:nvSpPr>
        <p:spPr>
          <a:xfrm>
            <a:off x="7909560" y="265176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79" name="Shape 77"/>
          <p:cNvSpPr/>
          <p:nvPr/>
        </p:nvSpPr>
        <p:spPr>
          <a:xfrm>
            <a:off x="8229600" y="265176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80" name="Shape 78"/>
          <p:cNvSpPr/>
          <p:nvPr/>
        </p:nvSpPr>
        <p:spPr>
          <a:xfrm>
            <a:off x="6629400" y="297180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81" name="Shape 79"/>
          <p:cNvSpPr/>
          <p:nvPr/>
        </p:nvSpPr>
        <p:spPr>
          <a:xfrm>
            <a:off x="6949440" y="297180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82" name="Shape 80"/>
          <p:cNvSpPr/>
          <p:nvPr/>
        </p:nvSpPr>
        <p:spPr>
          <a:xfrm>
            <a:off x="7269480" y="297180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3" name="Shape 81"/>
          <p:cNvSpPr/>
          <p:nvPr/>
        </p:nvSpPr>
        <p:spPr>
          <a:xfrm>
            <a:off x="7589520" y="297180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84" name="Shape 82"/>
          <p:cNvSpPr/>
          <p:nvPr/>
        </p:nvSpPr>
        <p:spPr>
          <a:xfrm>
            <a:off x="7909560" y="2971800"/>
            <a:ext cx="256032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85" name="Shape 83"/>
          <p:cNvSpPr/>
          <p:nvPr/>
        </p:nvSpPr>
        <p:spPr>
          <a:xfrm>
            <a:off x="8229600" y="2971800"/>
            <a:ext cx="256032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6" name="Shape 8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594360" y="40690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emerges from individual choices. The initial random matrix self-organizes into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Utility Decomposition: Who's Winning and Why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Running Simulations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each actor's total utility into its component effects.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88720" y="1783080"/>
            <a:ext cx="1080721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Shape 7"/>
          <p:cNvSpPr/>
          <p:nvPr/>
        </p:nvSpPr>
        <p:spPr>
          <a:xfrm>
            <a:off x="2269441" y="1783080"/>
            <a:ext cx="1361661" cy="25603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0" name="Shape 8"/>
          <p:cNvSpPr/>
          <p:nvPr/>
        </p:nvSpPr>
        <p:spPr>
          <a:xfrm>
            <a:off x="3631102" y="1783080"/>
            <a:ext cx="619053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1" name="Shape 9"/>
          <p:cNvSpPr/>
          <p:nvPr/>
        </p:nvSpPr>
        <p:spPr>
          <a:xfrm>
            <a:off x="4250155" y="1783080"/>
            <a:ext cx="911764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12" name="Shape 10"/>
          <p:cNvSpPr/>
          <p:nvPr/>
        </p:nvSpPr>
        <p:spPr>
          <a:xfrm>
            <a:off x="5161919" y="1783080"/>
            <a:ext cx="277773" cy="25603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88720" y="2103120"/>
            <a:ext cx="1011321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Shape 13"/>
          <p:cNvSpPr/>
          <p:nvPr/>
        </p:nvSpPr>
        <p:spPr>
          <a:xfrm>
            <a:off x="2200041" y="2103120"/>
            <a:ext cx="1223561" cy="25603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3602" y="2103120"/>
            <a:ext cx="647418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7" name="Shape 15"/>
          <p:cNvSpPr/>
          <p:nvPr/>
        </p:nvSpPr>
        <p:spPr>
          <a:xfrm>
            <a:off x="4071020" y="2103120"/>
            <a:ext cx="826429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18" name="Shape 16"/>
          <p:cNvSpPr/>
          <p:nvPr/>
        </p:nvSpPr>
        <p:spPr>
          <a:xfrm>
            <a:off x="4897449" y="2103120"/>
            <a:ext cx="496938" cy="25603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88720" y="2423160"/>
            <a:ext cx="1069429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1" name="Shape 19"/>
          <p:cNvSpPr/>
          <p:nvPr/>
        </p:nvSpPr>
        <p:spPr>
          <a:xfrm>
            <a:off x="2258149" y="2423160"/>
            <a:ext cx="1202009" cy="25603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2" name="Shape 20"/>
          <p:cNvSpPr/>
          <p:nvPr/>
        </p:nvSpPr>
        <p:spPr>
          <a:xfrm>
            <a:off x="3460158" y="2423160"/>
            <a:ext cx="64498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3" name="Shape 21"/>
          <p:cNvSpPr/>
          <p:nvPr/>
        </p:nvSpPr>
        <p:spPr>
          <a:xfrm>
            <a:off x="4105140" y="2423160"/>
            <a:ext cx="941089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4" name="Shape 22"/>
          <p:cNvSpPr/>
          <p:nvPr/>
        </p:nvSpPr>
        <p:spPr>
          <a:xfrm>
            <a:off x="5046230" y="2423160"/>
            <a:ext cx="376138" cy="25603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88720" y="2743200"/>
            <a:ext cx="925723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7" name="Shape 25"/>
          <p:cNvSpPr/>
          <p:nvPr/>
        </p:nvSpPr>
        <p:spPr>
          <a:xfrm>
            <a:off x="2114443" y="2743200"/>
            <a:ext cx="1141064" cy="25603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8" name="Shape 26"/>
          <p:cNvSpPr/>
          <p:nvPr/>
        </p:nvSpPr>
        <p:spPr>
          <a:xfrm>
            <a:off x="3255507" y="2743200"/>
            <a:ext cx="62064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9" name="Shape 27"/>
          <p:cNvSpPr/>
          <p:nvPr/>
        </p:nvSpPr>
        <p:spPr>
          <a:xfrm>
            <a:off x="3876149" y="2743200"/>
            <a:ext cx="848564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30" name="Shape 28"/>
          <p:cNvSpPr/>
          <p:nvPr/>
        </p:nvSpPr>
        <p:spPr>
          <a:xfrm>
            <a:off x="4724713" y="2743200"/>
            <a:ext cx="502314" cy="25603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188720" y="3063240"/>
            <a:ext cx="1086403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3" name="Shape 31"/>
          <p:cNvSpPr/>
          <p:nvPr/>
        </p:nvSpPr>
        <p:spPr>
          <a:xfrm>
            <a:off x="2275123" y="3063240"/>
            <a:ext cx="1532777" cy="25603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4" name="Shape 32"/>
          <p:cNvSpPr/>
          <p:nvPr/>
        </p:nvSpPr>
        <p:spPr>
          <a:xfrm>
            <a:off x="3807900" y="3063240"/>
            <a:ext cx="573570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5" name="Shape 33"/>
          <p:cNvSpPr/>
          <p:nvPr/>
        </p:nvSpPr>
        <p:spPr>
          <a:xfrm>
            <a:off x="4381470" y="3063240"/>
            <a:ext cx="822077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36" name="Shape 34"/>
          <p:cNvSpPr/>
          <p:nvPr/>
        </p:nvSpPr>
        <p:spPr>
          <a:xfrm>
            <a:off x="5203546" y="3063240"/>
            <a:ext cx="338444" cy="25603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383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188720" y="3383280"/>
            <a:ext cx="973834" cy="256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9" name="Shape 37"/>
          <p:cNvSpPr/>
          <p:nvPr/>
        </p:nvSpPr>
        <p:spPr>
          <a:xfrm>
            <a:off x="2162554" y="3383280"/>
            <a:ext cx="1284680" cy="25603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0" name="Shape 38"/>
          <p:cNvSpPr/>
          <p:nvPr/>
        </p:nvSpPr>
        <p:spPr>
          <a:xfrm>
            <a:off x="3447234" y="3383280"/>
            <a:ext cx="565829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1" name="Shape 39"/>
          <p:cNvSpPr/>
          <p:nvPr/>
        </p:nvSpPr>
        <p:spPr>
          <a:xfrm>
            <a:off x="4013063" y="3383280"/>
            <a:ext cx="535402" cy="2560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42" name="Shape 40"/>
          <p:cNvSpPr/>
          <p:nvPr/>
        </p:nvSpPr>
        <p:spPr>
          <a:xfrm>
            <a:off x="4548465" y="3383280"/>
            <a:ext cx="477411" cy="25603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0" y="3749040"/>
            <a:ext cx="182880" cy="1371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" y="3712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cost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0" y="3749040"/>
            <a:ext cx="182880" cy="1371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6" name="Text 44"/>
          <p:cNvSpPr/>
          <p:nvPr/>
        </p:nvSpPr>
        <p:spPr>
          <a:xfrm>
            <a:off x="2514600" y="3712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931920" y="3749040"/>
            <a:ext cx="182880" cy="13716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8" name="Text 46"/>
          <p:cNvSpPr/>
          <p:nvPr/>
        </p:nvSpPr>
        <p:spPr>
          <a:xfrm>
            <a:off x="4160520" y="3712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77840" y="3749040"/>
            <a:ext cx="182880" cy="13716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50" name="Text 48"/>
          <p:cNvSpPr/>
          <p:nvPr/>
        </p:nvSpPr>
        <p:spPr>
          <a:xfrm>
            <a:off x="5806440" y="3712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Transitivity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223760" y="3749040"/>
            <a:ext cx="182880" cy="13716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2" name="Text 50"/>
          <p:cNvSpPr/>
          <p:nvPr/>
        </p:nvSpPr>
        <p:spPr>
          <a:xfrm>
            <a:off x="7452360" y="3712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94360" y="41605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reveals not just who wins, but which forces drive their advantage.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Strategies: Heterogeneous Actors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Running Simulations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194560"/>
          </a:xfrm>
          <a:prstGeom prst="rect">
            <a:avLst/>
          </a:prstGeom>
          <a:solidFill>
            <a:srgbClr val="1A202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97280"/>
            <a:ext cx="7955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Give actors different strategies via covariates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&lt;- saomnk_env(M = 6, N = 10, density = 0.3)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Actor covariate: "aggressiveness"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env$egoX &lt;- c(1, 1, 0, 0, -1, -1)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= aggressive, 0 = neutral, -1 = conservative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 &lt;- saomnk_model(env,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theta_egoX = 0.5,  # aggressive actors expand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egoX: actor-level covariates (size, type, strategy)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altX: activity-level covariates (attractiveness, cost)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sameX: homophily effects (do actors of the same type cluster?)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45262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Covariates let you model heterogeneous strategies. Not all firms search the same way.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Epistasis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Running Simulations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Block-Diagonal = Modular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164592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9" name="Shape 7"/>
          <p:cNvSpPr/>
          <p:nvPr/>
        </p:nvSpPr>
        <p:spPr>
          <a:xfrm>
            <a:off x="1737360" y="164592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0" name="Shape 8"/>
          <p:cNvSpPr/>
          <p:nvPr/>
        </p:nvSpPr>
        <p:spPr>
          <a:xfrm>
            <a:off x="2148840" y="164592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164592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2971800" y="164592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192024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4" name="Shape 12"/>
          <p:cNvSpPr/>
          <p:nvPr/>
        </p:nvSpPr>
        <p:spPr>
          <a:xfrm>
            <a:off x="1325880" y="192024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737360" y="192024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6" name="Shape 14"/>
          <p:cNvSpPr/>
          <p:nvPr/>
        </p:nvSpPr>
        <p:spPr>
          <a:xfrm>
            <a:off x="2148840" y="192024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2560320" y="192024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2971800" y="192024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219456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0" name="Shape 18"/>
          <p:cNvSpPr/>
          <p:nvPr/>
        </p:nvSpPr>
        <p:spPr>
          <a:xfrm>
            <a:off x="1325880" y="219456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1" name="Shape 19"/>
          <p:cNvSpPr/>
          <p:nvPr/>
        </p:nvSpPr>
        <p:spPr>
          <a:xfrm>
            <a:off x="1737360" y="219456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2" name="Shape 20"/>
          <p:cNvSpPr/>
          <p:nvPr/>
        </p:nvSpPr>
        <p:spPr>
          <a:xfrm>
            <a:off x="2148840" y="219456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3" name="Shape 21"/>
          <p:cNvSpPr/>
          <p:nvPr/>
        </p:nvSpPr>
        <p:spPr>
          <a:xfrm>
            <a:off x="2560320" y="219456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1800" y="219456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246888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46888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7" name="Shape 25"/>
          <p:cNvSpPr/>
          <p:nvPr/>
        </p:nvSpPr>
        <p:spPr>
          <a:xfrm>
            <a:off x="1737360" y="246888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8" name="Shape 26"/>
          <p:cNvSpPr/>
          <p:nvPr/>
        </p:nvSpPr>
        <p:spPr>
          <a:xfrm>
            <a:off x="2148840" y="246888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9" name="Shape 27"/>
          <p:cNvSpPr/>
          <p:nvPr/>
        </p:nvSpPr>
        <p:spPr>
          <a:xfrm>
            <a:off x="2560320" y="246888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0" name="Shape 28"/>
          <p:cNvSpPr/>
          <p:nvPr/>
        </p:nvSpPr>
        <p:spPr>
          <a:xfrm>
            <a:off x="2971800" y="246888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1" name="Shape 29"/>
          <p:cNvSpPr/>
          <p:nvPr/>
        </p:nvSpPr>
        <p:spPr>
          <a:xfrm>
            <a:off x="914400" y="274320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Shape 30"/>
          <p:cNvSpPr/>
          <p:nvPr/>
        </p:nvSpPr>
        <p:spPr>
          <a:xfrm>
            <a:off x="1325880" y="274320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3" name="Shape 31"/>
          <p:cNvSpPr/>
          <p:nvPr/>
        </p:nvSpPr>
        <p:spPr>
          <a:xfrm>
            <a:off x="1737360" y="274320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4" name="Shape 32"/>
          <p:cNvSpPr/>
          <p:nvPr/>
        </p:nvSpPr>
        <p:spPr>
          <a:xfrm>
            <a:off x="2148840" y="274320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5" name="Shape 33"/>
          <p:cNvSpPr/>
          <p:nvPr/>
        </p:nvSpPr>
        <p:spPr>
          <a:xfrm>
            <a:off x="2560320" y="274320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6" name="Shape 34"/>
          <p:cNvSpPr/>
          <p:nvPr/>
        </p:nvSpPr>
        <p:spPr>
          <a:xfrm>
            <a:off x="2971800" y="274320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7" name="Shape 35"/>
          <p:cNvSpPr/>
          <p:nvPr/>
        </p:nvSpPr>
        <p:spPr>
          <a:xfrm>
            <a:off x="914400" y="301752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8" name="Shape 36"/>
          <p:cNvSpPr/>
          <p:nvPr/>
        </p:nvSpPr>
        <p:spPr>
          <a:xfrm>
            <a:off x="1325880" y="301752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Shape 37"/>
          <p:cNvSpPr/>
          <p:nvPr/>
        </p:nvSpPr>
        <p:spPr>
          <a:xfrm>
            <a:off x="1737360" y="3017520"/>
            <a:ext cx="365760" cy="2286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0" name="Shape 38"/>
          <p:cNvSpPr/>
          <p:nvPr/>
        </p:nvSpPr>
        <p:spPr>
          <a:xfrm>
            <a:off x="2148840" y="301752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1" name="Shape 39"/>
          <p:cNvSpPr/>
          <p:nvPr/>
        </p:nvSpPr>
        <p:spPr>
          <a:xfrm>
            <a:off x="2560320" y="301752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2" name="Shape 40"/>
          <p:cNvSpPr/>
          <p:nvPr/>
        </p:nvSpPr>
        <p:spPr>
          <a:xfrm>
            <a:off x="2971800" y="3017520"/>
            <a:ext cx="365760" cy="2286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cluster into independent modules. Easy to optimize.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109728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= Rugged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303520" y="164592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47" name="Shape 45"/>
          <p:cNvSpPr/>
          <p:nvPr/>
        </p:nvSpPr>
        <p:spPr>
          <a:xfrm>
            <a:off x="5715000" y="164592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48" name="Shape 46"/>
          <p:cNvSpPr/>
          <p:nvPr/>
        </p:nvSpPr>
        <p:spPr>
          <a:xfrm>
            <a:off x="6126480" y="164592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49" name="Shape 47"/>
          <p:cNvSpPr/>
          <p:nvPr/>
        </p:nvSpPr>
        <p:spPr>
          <a:xfrm>
            <a:off x="6537960" y="164592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0" name="Shape 48"/>
          <p:cNvSpPr/>
          <p:nvPr/>
        </p:nvSpPr>
        <p:spPr>
          <a:xfrm>
            <a:off x="6949440" y="164592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1" name="Shape 49"/>
          <p:cNvSpPr/>
          <p:nvPr/>
        </p:nvSpPr>
        <p:spPr>
          <a:xfrm>
            <a:off x="7360920" y="164592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192024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192024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4" name="Shape 52"/>
          <p:cNvSpPr/>
          <p:nvPr/>
        </p:nvSpPr>
        <p:spPr>
          <a:xfrm>
            <a:off x="6126480" y="192024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5" name="Shape 53"/>
          <p:cNvSpPr/>
          <p:nvPr/>
        </p:nvSpPr>
        <p:spPr>
          <a:xfrm>
            <a:off x="6537960" y="192024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6" name="Shape 54"/>
          <p:cNvSpPr/>
          <p:nvPr/>
        </p:nvSpPr>
        <p:spPr>
          <a:xfrm>
            <a:off x="6949440" y="192024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7" name="Shape 55"/>
          <p:cNvSpPr/>
          <p:nvPr/>
        </p:nvSpPr>
        <p:spPr>
          <a:xfrm>
            <a:off x="7360920" y="192024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8" name="Shape 56"/>
          <p:cNvSpPr/>
          <p:nvPr/>
        </p:nvSpPr>
        <p:spPr>
          <a:xfrm>
            <a:off x="5303520" y="219456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9" name="Shape 57"/>
          <p:cNvSpPr/>
          <p:nvPr/>
        </p:nvSpPr>
        <p:spPr>
          <a:xfrm>
            <a:off x="5715000" y="219456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0" name="Shape 58"/>
          <p:cNvSpPr/>
          <p:nvPr/>
        </p:nvSpPr>
        <p:spPr>
          <a:xfrm>
            <a:off x="6126480" y="219456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1" name="Shape 59"/>
          <p:cNvSpPr/>
          <p:nvPr/>
        </p:nvSpPr>
        <p:spPr>
          <a:xfrm>
            <a:off x="6537960" y="219456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2" name="Shape 60"/>
          <p:cNvSpPr/>
          <p:nvPr/>
        </p:nvSpPr>
        <p:spPr>
          <a:xfrm>
            <a:off x="6949440" y="219456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3" name="Shape 61"/>
          <p:cNvSpPr/>
          <p:nvPr/>
        </p:nvSpPr>
        <p:spPr>
          <a:xfrm>
            <a:off x="7360920" y="219456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4" name="Shape 62"/>
          <p:cNvSpPr/>
          <p:nvPr/>
        </p:nvSpPr>
        <p:spPr>
          <a:xfrm>
            <a:off x="5303520" y="246888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5" name="Shape 63"/>
          <p:cNvSpPr/>
          <p:nvPr/>
        </p:nvSpPr>
        <p:spPr>
          <a:xfrm>
            <a:off x="5715000" y="246888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6" name="Shape 64"/>
          <p:cNvSpPr/>
          <p:nvPr/>
        </p:nvSpPr>
        <p:spPr>
          <a:xfrm>
            <a:off x="6126480" y="246888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7" name="Shape 65"/>
          <p:cNvSpPr/>
          <p:nvPr/>
        </p:nvSpPr>
        <p:spPr>
          <a:xfrm>
            <a:off x="6537960" y="246888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8" name="Shape 66"/>
          <p:cNvSpPr/>
          <p:nvPr/>
        </p:nvSpPr>
        <p:spPr>
          <a:xfrm>
            <a:off x="6949440" y="246888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9" name="Shape 67"/>
          <p:cNvSpPr/>
          <p:nvPr/>
        </p:nvSpPr>
        <p:spPr>
          <a:xfrm>
            <a:off x="7360920" y="246888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0" name="Shape 68"/>
          <p:cNvSpPr/>
          <p:nvPr/>
        </p:nvSpPr>
        <p:spPr>
          <a:xfrm>
            <a:off x="5303520" y="274320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1" name="Shape 69"/>
          <p:cNvSpPr/>
          <p:nvPr/>
        </p:nvSpPr>
        <p:spPr>
          <a:xfrm>
            <a:off x="5715000" y="274320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2" name="Shape 70"/>
          <p:cNvSpPr/>
          <p:nvPr/>
        </p:nvSpPr>
        <p:spPr>
          <a:xfrm>
            <a:off x="6126480" y="274320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3" name="Shape 71"/>
          <p:cNvSpPr/>
          <p:nvPr/>
        </p:nvSpPr>
        <p:spPr>
          <a:xfrm>
            <a:off x="6537960" y="274320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4" name="Shape 72"/>
          <p:cNvSpPr/>
          <p:nvPr/>
        </p:nvSpPr>
        <p:spPr>
          <a:xfrm>
            <a:off x="6949440" y="274320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5" name="Shape 73"/>
          <p:cNvSpPr/>
          <p:nvPr/>
        </p:nvSpPr>
        <p:spPr>
          <a:xfrm>
            <a:off x="7360920" y="274320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6" name="Shape 74"/>
          <p:cNvSpPr/>
          <p:nvPr/>
        </p:nvSpPr>
        <p:spPr>
          <a:xfrm>
            <a:off x="5303520" y="301752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7" name="Shape 75"/>
          <p:cNvSpPr/>
          <p:nvPr/>
        </p:nvSpPr>
        <p:spPr>
          <a:xfrm>
            <a:off x="5715000" y="301752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8" name="Shape 76"/>
          <p:cNvSpPr/>
          <p:nvPr/>
        </p:nvSpPr>
        <p:spPr>
          <a:xfrm>
            <a:off x="6126480" y="301752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9" name="Shape 77"/>
          <p:cNvSpPr/>
          <p:nvPr/>
        </p:nvSpPr>
        <p:spPr>
          <a:xfrm>
            <a:off x="6537960" y="301752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0" name="Shape 78"/>
          <p:cNvSpPr/>
          <p:nvPr/>
        </p:nvSpPr>
        <p:spPr>
          <a:xfrm>
            <a:off x="6949440" y="301752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1" name="Shape 79"/>
          <p:cNvSpPr/>
          <p:nvPr/>
        </p:nvSpPr>
        <p:spPr>
          <a:xfrm>
            <a:off x="7360920" y="3017520"/>
            <a:ext cx="36576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2" name="Text 80"/>
          <p:cNvSpPr/>
          <p:nvPr/>
        </p:nvSpPr>
        <p:spPr>
          <a:xfrm>
            <a:off x="502920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depends on everything. Many local optima. Hard to optimize.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594360" y="38862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epistasis matrix controls landscape ruggedness -- just like in classic NK, but here it co-evolves with the actors.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landscape is not fixed.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C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evolves with the actors.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1828800" cy="457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an actor adds or drops an activity, the fitness landscape reshapes for everyone. This is what 'endogenous landscape' means.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 &amp; Shocks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realities, causal identification, and parameter sweeps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Simulation Factory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Experiments &amp; Shocks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run = one alternate reality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77724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91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1:  seed=42  θ_trans=0.5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75895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194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2:  seed=43  θ_trans=0.6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74066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3:  seed=44  θ_trans=0.7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2237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200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4:  seed=45  θ_trans=0.8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704088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3703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5:  seed=46  θ_trans=0.9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03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structure, different seeds → statistical distribution of outcomes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structure, different thetas → comparative statics / counterfactuals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Exogenous Shocks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Experiments &amp; Shocks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theta_shocks for "what if?" questions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solidFill>
            <a:srgbClr val="1A202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64592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250 steps, then shock transitivity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saomnk_run(mod, n_steps = 500,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theta_shocks = list(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list(step = 250,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theta_trans = 0.0)  # kill clustering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Shocks change parameters mid-simulation (like a policy intervention)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shocks can be sequenced at different time steps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Pre-shock = baseline, post-shock = treatment (natural experiment logic)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/ After: The Structural Break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Experiments &amp; Shocks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Shock (t &lt; 250)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K_AC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97280" y="1737360"/>
            <a:ext cx="3017520" cy="0"/>
          </a:xfrm>
          <a:prstGeom prst="line">
            <a:avLst/>
          </a:prstGeom>
          <a:noFill/>
          <a:ln w="1905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K_CA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097280" y="2240280"/>
            <a:ext cx="3017520" cy="0"/>
          </a:xfrm>
          <a:prstGeom prst="line">
            <a:avLst/>
          </a:prstGeom>
          <a:noFill/>
          <a:ln w="19050">
            <a:solidFill>
              <a:srgbClr val="D69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517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K_AA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097280" y="2743200"/>
            <a:ext cx="3017520" cy="0"/>
          </a:xfrm>
          <a:prstGeom prst="line">
            <a:avLst/>
          </a:prstGeom>
          <a:noFill/>
          <a:ln w="1905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546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5A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K_CC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097280" y="3246120"/>
            <a:ext cx="3017520" cy="0"/>
          </a:xfrm>
          <a:prstGeom prst="line">
            <a:avLst/>
          </a:prstGeom>
          <a:noFill/>
          <a:ln w="19050">
            <a:solidFill>
              <a:srgbClr val="805A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Shock (t &gt; 250)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645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K_AC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394960" y="1737360"/>
            <a:ext cx="3017520" cy="0"/>
          </a:xfrm>
          <a:prstGeom prst="line">
            <a:avLst/>
          </a:prstGeom>
          <a:noFill/>
          <a:ln w="19050">
            <a:solidFill>
              <a:srgbClr val="2B6CB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846320" y="21488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K_CA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394960" y="2240280"/>
            <a:ext cx="3017520" cy="0"/>
          </a:xfrm>
          <a:prstGeom prst="line">
            <a:avLst/>
          </a:prstGeom>
          <a:noFill/>
          <a:ln w="19050">
            <a:solidFill>
              <a:srgbClr val="D69E2E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846320" y="26517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K_AA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94960" y="2743200"/>
            <a:ext cx="3017520" cy="0"/>
          </a:xfrm>
          <a:prstGeom prst="line">
            <a:avLst/>
          </a:prstGeom>
          <a:noFill/>
          <a:ln w="19050">
            <a:solidFill>
              <a:srgbClr val="38A169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846320" y="31546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5A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K_CC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394960" y="3246120"/>
            <a:ext cx="3017520" cy="0"/>
          </a:xfrm>
          <a:prstGeom prst="line">
            <a:avLst/>
          </a:prstGeom>
          <a:noFill/>
          <a:ln w="19050">
            <a:solidFill>
              <a:srgbClr val="805AD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72000" y="1097280"/>
            <a:ext cx="0" cy="2743200"/>
          </a:xfrm>
          <a:prstGeom prst="line">
            <a:avLst/>
          </a:prstGeom>
          <a:noFill/>
          <a:ln w="25400">
            <a:solidFill>
              <a:srgbClr val="E53E3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206240" y="3886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SHOCK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42519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K-4 panel shows the structural break visually. Compare trajectories before and after the shock to identify causal effects.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Simulation to Causal Inference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Experiments &amp; Shocks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/ Synthetic Control / RD Pipeline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Treatment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874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shock at t*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331720"/>
            <a:ext cx="411480" cy="4114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Control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560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without shock (same seed)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17520"/>
            <a:ext cx="411480" cy="4114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DID/Synth/RD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2461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causal effect of the shock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N times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39319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distribution of treatment effects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43891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gives you perfect experimental control. You know the true DGP, so you can validate your causal inference method.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Experiments: Parameter Sweeps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Experiments &amp; Shocks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solidFill>
            <a:srgbClr val="1A202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97280"/>
            <a:ext cx="7955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parameter grid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&lt;- expand.grid(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theta_trans = seq(0, 1, 0.2),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theta_popular = seq(0, 0.5, 0.1),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beta = c(1, 2, 5, 10)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all combinations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&lt;- saomnk_experiment(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env, grid,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n_steps = 500,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n_reps = 50,      # 50 replications each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parallel = TRUE    # use all cores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39776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sweeps let you map the entire response surface. Which combinations of theta produce concentration? Fragmentation? Collapse?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Connecting to Your Research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research question to a searchnet simulation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Translation Table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Connecting to Your Research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828800"/>
                <a:gridCol w="3108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Actors (M)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 (N)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K_AA = route overlap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Venture Capital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 firms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co's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K_CC = syndication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K_CC = field coupling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K_CA = feature crowding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targets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K_CC = target epistasis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K_AC =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35204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context where agents choose from a shared set of options can be modeled as a bipartite SAOM.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Exercise: Map YOUR Research Question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Connecting to Your Research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54864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9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5-Minute Individual Exercise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your research question?
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Who are the actors (M)? What are the components (N)?
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Which K layer matters most for your theory?
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theta parameters capture your key mechanism?
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shock would test your hypothesis?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your neighbor. We'll discuss as a group.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Go Next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Connecting to Your Research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143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Package Vignettes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tutorials for common use cases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011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JSS Paper (forthcoming)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331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treatment of SaoMNK theory and the searchnet implementation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2880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200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github.com/sdownin/searchnet -- issues, PRs, and development roadmap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Appendix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069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proofs of Theorems 1-4 and additional simulation results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Formal Foundation: Theorems 1–4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Connecting to Your Research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7315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43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 is a special case of SaoMNK when M = 1 and β → ∞.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20240"/>
            <a:ext cx="73152" cy="7315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K networks are algebraically determined by B. Changing one entry of B changes all four.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88920"/>
            <a:ext cx="73152" cy="7315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Equilibrium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154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ministep process converges to a Quantal Response Equilibrium (QRE) for finite β.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57600"/>
            <a:ext cx="73152" cy="7315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023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theta parameters are identified from panel data on B via conditional maximum likelihood.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69E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45720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theorems establish that searchnet is not ad hoc. It has a rigorous foundation in game theory and econometrics.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828800" cy="457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Downing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  |  Trulaske College of Business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downings@missouri.edu
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github.com/sdownin/searchnet
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as: Downing, S. (2026). searchnet: Simulating Strategic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on Fitness Landscapes. R package.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searchnet: Simulating Strategic Search on Fitness Landscapes</dc:title>
  <dc:subject>PptxGenJS Presentation</dc:subject>
  <dc:creator>Stephen Downing</dc:creator>
  <cp:lastModifiedBy>Stephen Downing</cp:lastModifiedBy>
  <cp:revision>1</cp:revision>
  <dcterms:created xsi:type="dcterms:W3CDTF">2026-04-05T02:27:54Z</dcterms:created>
  <dcterms:modified xsi:type="dcterms:W3CDTF">2026-04-05T02:27:54Z</dcterms:modified>
</cp:coreProperties>
</file>